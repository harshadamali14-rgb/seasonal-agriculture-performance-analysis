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1"/>
  </p:notesMasterIdLst>
  <p:handoutMasterIdLst>
    <p:handoutMasterId r:id="rId22"/>
  </p:handoutMasterIdLst>
  <p:sldIdLst>
    <p:sldId id="338" r:id="rId5"/>
    <p:sldId id="327" r:id="rId6"/>
    <p:sldId id="315" r:id="rId7"/>
    <p:sldId id="329" r:id="rId8"/>
    <p:sldId id="302" r:id="rId9"/>
    <p:sldId id="339" r:id="rId10"/>
    <p:sldId id="349" r:id="rId11"/>
    <p:sldId id="340" r:id="rId12"/>
    <p:sldId id="344" r:id="rId13"/>
    <p:sldId id="345" r:id="rId14"/>
    <p:sldId id="346" r:id="rId15"/>
    <p:sldId id="347" r:id="rId16"/>
    <p:sldId id="341" r:id="rId17"/>
    <p:sldId id="342" r:id="rId18"/>
    <p:sldId id="343" r:id="rId19"/>
    <p:sldId id="30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p:scale>
          <a:sx n="75" d="100"/>
          <a:sy n="75" d="100"/>
        </p:scale>
        <p:origin x="-802" y="-264"/>
      </p:cViewPr>
      <p:guideLst>
        <p:guide orient="horz" pos="1968"/>
        <p:guide orient="horz" pos="3912"/>
        <p:guide orient="horz" pos="1656"/>
        <p:guide pos="408"/>
        <p:guide pos="7272"/>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xmlns=""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9/5/2026</a:t>
            </a:fld>
            <a:endParaRPr lang="en-US" dirty="0"/>
          </a:p>
        </p:txBody>
      </p:sp>
      <p:sp>
        <p:nvSpPr>
          <p:cNvPr id="4" name="Footer Placeholder 3">
            <a:extLst>
              <a:ext uri="{FF2B5EF4-FFF2-40B4-BE49-F238E27FC236}">
                <a16:creationId xmlns:a16="http://schemas.microsoft.com/office/drawing/2014/main" xmlns=""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xmlns=""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9/5/2026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9/5/2026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xmlns=""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xmlns=""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xmlns=""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xmlns=""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xmlns=""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xmlns=""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xmlns=""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xmlns="">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xmlns=""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xmlns=""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xmlns=""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xmlns=""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xmlns=""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xmlns=""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xmlns="">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xmlns=""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xmlns=""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xmlns=""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xmlns=""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xmlns=""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xmlns=""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xmlns="">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xmlns=""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xmlns=""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xmlns=""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xmlns=""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xmlns=""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xmlns=""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xmlns=""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xmlns=""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xmlns=""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xmlns=""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xmlns=""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xmlns=""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xmlns=""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xmlns=""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xmlns=""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xmlns=""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xmlns=""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xmlns=""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xmlns=""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xmlns="">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xmlns=""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xmlns=""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xmlns=""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xmlns=""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9/5/2026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xmlns=""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9/5/2026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xmlns=""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xmlns=""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xmlns=""/>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7201737A-B873-4D1D-8A41-5ABF5184BC8F}"/>
              </a:ext>
            </a:extLst>
          </p:cNvPr>
          <p:cNvSpPr>
            <a:spLocks noGrp="1"/>
          </p:cNvSpPr>
          <p:nvPr>
            <p:ph type="body" sz="quarter" idx="11"/>
          </p:nvPr>
        </p:nvSpPr>
        <p:spPr>
          <a:xfrm>
            <a:off x="500206" y="3655498"/>
            <a:ext cx="4825637" cy="861497"/>
          </a:xfrm>
        </p:spPr>
        <p:txBody>
          <a:bodyPr vert="horz" lIns="91440" tIns="45720" rIns="91440" bIns="45720" rtlCol="0" anchor="t">
            <a:normAutofit fontScale="62500" lnSpcReduction="20000"/>
          </a:bodyPr>
          <a:lstStyle/>
          <a:p>
            <a:r>
              <a:rPr lang="en-US" b="0" dirty="0" smtClean="0">
                <a:solidFill>
                  <a:schemeClr val="tx1"/>
                </a:solidFill>
              </a:rPr>
              <a:t>Student Name- </a:t>
            </a:r>
            <a:r>
              <a:rPr lang="en-US" b="0" dirty="0" err="1" smtClean="0">
                <a:solidFill>
                  <a:schemeClr val="tx1"/>
                </a:solidFill>
              </a:rPr>
              <a:t>Harshada</a:t>
            </a:r>
            <a:r>
              <a:rPr lang="en-US" b="0" dirty="0" smtClean="0">
                <a:solidFill>
                  <a:schemeClr val="tx1"/>
                </a:solidFill>
              </a:rPr>
              <a:t> </a:t>
            </a:r>
            <a:r>
              <a:rPr lang="en-US" b="0" dirty="0" err="1" smtClean="0">
                <a:solidFill>
                  <a:schemeClr val="tx1"/>
                </a:solidFill>
              </a:rPr>
              <a:t>Nanabhau</a:t>
            </a:r>
            <a:r>
              <a:rPr lang="en-US" b="0" dirty="0" smtClean="0">
                <a:solidFill>
                  <a:schemeClr val="tx1"/>
                </a:solidFill>
              </a:rPr>
              <a:t> Mali </a:t>
            </a:r>
            <a:endParaRPr lang="en-IN" b="0" dirty="0">
              <a:solidFill>
                <a:schemeClr val="tx1"/>
              </a:solidFill>
            </a:endParaRPr>
          </a:p>
          <a:p>
            <a:r>
              <a:rPr lang="en-US" b="0" dirty="0" smtClean="0">
                <a:solidFill>
                  <a:schemeClr val="tx1"/>
                </a:solidFill>
              </a:rPr>
              <a:t>College </a:t>
            </a:r>
            <a:r>
              <a:rPr lang="en-US" b="0" dirty="0">
                <a:solidFill>
                  <a:schemeClr val="tx1"/>
                </a:solidFill>
              </a:rPr>
              <a:t>Name- R. C. Patel Educational Trust's</a:t>
            </a:r>
          </a:p>
          <a:p>
            <a:r>
              <a:rPr lang="en-US" b="0" dirty="0">
                <a:solidFill>
                  <a:schemeClr val="tx1"/>
                </a:solidFill>
              </a:rPr>
              <a:t>Institute of Management Research and Development, </a:t>
            </a:r>
            <a:r>
              <a:rPr lang="en-US" b="0" dirty="0" err="1" smtClean="0">
                <a:solidFill>
                  <a:schemeClr val="tx1"/>
                </a:solidFill>
              </a:rPr>
              <a:t>Shirpur</a:t>
            </a:r>
            <a:endParaRPr lang="en-IN" b="0" dirty="0">
              <a:solidFill>
                <a:schemeClr val="tx1"/>
              </a:solidFill>
            </a:endParaRPr>
          </a:p>
        </p:txBody>
      </p:sp>
      <p:sp>
        <p:nvSpPr>
          <p:cNvPr id="4" name="Title 3">
            <a:extLst>
              <a:ext uri="{FF2B5EF4-FFF2-40B4-BE49-F238E27FC236}">
                <a16:creationId xmlns:a16="http://schemas.microsoft.com/office/drawing/2014/main" xmlns="" id="{92056599-CDAA-4367-BEF8-31D6E32518C8}"/>
              </a:ext>
            </a:extLst>
          </p:cNvPr>
          <p:cNvSpPr>
            <a:spLocks noGrp="1"/>
          </p:cNvSpPr>
          <p:nvPr>
            <p:ph type="title"/>
          </p:nvPr>
        </p:nvSpPr>
        <p:spPr>
          <a:xfrm>
            <a:off x="317326" y="2794001"/>
            <a:ext cx="10594514" cy="743448"/>
          </a:xfrm>
        </p:spPr>
        <p:txBody>
          <a:bodyPr>
            <a:normAutofit fontScale="90000"/>
          </a:bodyPr>
          <a:lstStyle/>
          <a:p>
            <a:r>
              <a:rPr lang="en-GB" sz="3200" b="1" dirty="0"/>
              <a:t>Project Title </a:t>
            </a:r>
            <a:r>
              <a:rPr lang="en-GB" sz="3200" b="1" dirty="0"/>
              <a:t>-</a:t>
            </a:r>
            <a:r>
              <a:rPr lang="en-IN" sz="3200" b="1" dirty="0"/>
              <a:t>Seasonal Agriculture Performance Analysis</a:t>
            </a:r>
            <a:endParaRPr lang="en-IN" sz="3200" dirty="0"/>
          </a:p>
        </p:txBody>
      </p:sp>
      <p:sp>
        <p:nvSpPr>
          <p:cNvPr id="15" name="Text Placeholder 1">
            <a:extLst>
              <a:ext uri="{FF2B5EF4-FFF2-40B4-BE49-F238E27FC236}">
                <a16:creationId xmlns:a16="http://schemas.microsoft.com/office/drawing/2014/main" xmlns=""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xmlns=""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xmlns="" id="{17F04107-8754-E47D-3375-529E689711FA}"/>
              </a:ext>
            </a:extLst>
          </p:cNvPr>
          <p:cNvSpPr txBox="1"/>
          <p:nvPr/>
        </p:nvSpPr>
        <p:spPr>
          <a:xfrm>
            <a:off x="500206" y="4577029"/>
            <a:ext cx="6174914" cy="369332"/>
          </a:xfrm>
          <a:prstGeom prst="rect">
            <a:avLst/>
          </a:prstGeom>
          <a:noFill/>
        </p:spPr>
        <p:txBody>
          <a:bodyPr wrap="square" rtlCol="0">
            <a:spAutoFit/>
          </a:bodyPr>
          <a:lstStyle/>
          <a:p>
            <a:r>
              <a:rPr lang="en-US" b="1" dirty="0"/>
              <a:t>AICTE STU ID </a:t>
            </a:r>
            <a:r>
              <a:rPr lang="en-US" b="1" dirty="0" smtClean="0"/>
              <a:t>:</a:t>
            </a:r>
            <a:r>
              <a:rPr lang="en-IN" b="1" dirty="0" smtClean="0"/>
              <a:t>STU6a5a433eac6fd1784300350</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2">
                                            <p:txEl>
                                              <p:pRg st="2" end="2"/>
                                            </p:txEl>
                                          </p:spTgt>
                                        </p:tgtEl>
                                        <p:attrNameLst>
                                          <p:attrName>style.visibility</p:attrName>
                                        </p:attrNameLst>
                                      </p:cBhvr>
                                      <p:to>
                                        <p:strVal val="visible"/>
                                      </p:to>
                                    </p:set>
                                    <p:animEffect transition="in" filter="randombar(horizontal)">
                                      <p:cBhvr>
                                        <p:cTn id="42"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62500" lnSpcReduction="20000"/>
          </a:bodyPr>
          <a:lstStyle/>
          <a:p>
            <a:r>
              <a:rPr lang="en-US" sz="2800" dirty="0"/>
              <a:t>Agricultural activities are influenced by seasonal variations in environmental </a:t>
            </a:r>
            <a:r>
              <a:rPr lang="en-US" sz="2800" dirty="0" smtClean="0"/>
              <a:t>conditions, farming </a:t>
            </a:r>
            <a:r>
              <a:rPr lang="en-US" sz="2800" dirty="0"/>
              <a:t>practices, resource availability and market conditions. As a result, </a:t>
            </a:r>
            <a:r>
              <a:rPr lang="en-US" sz="2800" dirty="0" smtClean="0"/>
              <a:t>agricultural performance </a:t>
            </a:r>
            <a:r>
              <a:rPr lang="en-US" sz="2800" dirty="0"/>
              <a:t>may differ from one season to another.</a:t>
            </a:r>
          </a:p>
          <a:p>
            <a:r>
              <a:rPr lang="en-US" sz="2800" dirty="0"/>
              <a:t>However, raw agricultural data does not clearly explain how agricultural performance </a:t>
            </a:r>
            <a:r>
              <a:rPr lang="en-US" sz="2800" dirty="0" smtClean="0"/>
              <a:t>changes across </a:t>
            </a:r>
            <a:r>
              <a:rPr lang="en-US" sz="2800" dirty="0"/>
              <a:t>seasons or what patterns can be observed in different seasonal conditions.</a:t>
            </a:r>
          </a:p>
          <a:p>
            <a:r>
              <a:rPr lang="en-US" sz="2800" dirty="0"/>
              <a:t>The problem is to analyze the given agricultural dataset and investigate seasonal </a:t>
            </a:r>
            <a:r>
              <a:rPr lang="en-US" sz="2800" dirty="0" smtClean="0"/>
              <a:t>differences in </a:t>
            </a:r>
            <a:r>
              <a:rPr lang="en-US" sz="2800" dirty="0"/>
              <a:t>agricultural performance by identifying meaningful patterns, trends, relationships </a:t>
            </a:r>
            <a:r>
              <a:rPr lang="en-US" sz="2800" dirty="0" err="1" smtClean="0"/>
              <a:t>andvariations</a:t>
            </a:r>
            <a:r>
              <a:rPr lang="en-US" sz="2800" dirty="0" smtClean="0"/>
              <a:t> </a:t>
            </a:r>
            <a:r>
              <a:rPr lang="en-US" sz="2800" dirty="0"/>
              <a:t>within the available data.</a:t>
            </a:r>
            <a:endParaRPr lang="en-IN" sz="2800" dirty="0"/>
          </a:p>
        </p:txBody>
      </p:sp>
      <p:sp>
        <p:nvSpPr>
          <p:cNvPr id="4" name="Title 3">
            <a:extLst>
              <a:ext uri="{FF2B5EF4-FFF2-40B4-BE49-F238E27FC236}">
                <a16:creationId xmlns:a16="http://schemas.microsoft.com/office/drawing/2014/main" xmlns=""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xmlns=""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xmlns=""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a:t>
            </a:r>
            <a:r>
              <a:rPr lang="en-GB" dirty="0" smtClean="0"/>
              <a:t>Description</a:t>
            </a:r>
            <a:br>
              <a:rPr lang="en-GB" dirty="0" smtClean="0"/>
            </a:br>
            <a:r>
              <a:rPr lang="en-GB" dirty="0"/>
              <a:t/>
            </a:r>
            <a:br>
              <a:rPr lang="en-GB" dirty="0"/>
            </a:br>
            <a:endParaRPr lang="en-IN" dirty="0"/>
          </a:p>
        </p:txBody>
      </p:sp>
      <p:pic>
        <p:nvPicPr>
          <p:cNvPr id="5" name="Picture 4">
            <a:extLst>
              <a:ext uri="{FF2B5EF4-FFF2-40B4-BE49-F238E27FC236}">
                <a16:creationId xmlns:a16="http://schemas.microsoft.com/office/drawing/2014/main" xmlns=""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2" name="Rectangle 1"/>
          <p:cNvSpPr/>
          <p:nvPr/>
        </p:nvSpPr>
        <p:spPr>
          <a:xfrm>
            <a:off x="1237307" y="1808677"/>
            <a:ext cx="7245790" cy="2862322"/>
          </a:xfrm>
          <a:prstGeom prst="rect">
            <a:avLst/>
          </a:prstGeom>
        </p:spPr>
        <p:txBody>
          <a:bodyPr wrap="square">
            <a:spAutoFit/>
          </a:bodyPr>
          <a:lstStyle/>
          <a:p>
            <a:r>
              <a:rPr lang="en-US" b="1" dirty="0"/>
              <a:t>Seasonal Agriculture Performance Analysis</a:t>
            </a:r>
            <a:r>
              <a:rPr lang="en-US" dirty="0"/>
              <a:t> is a data analysis project that examines agricultural activities across different </a:t>
            </a:r>
            <a:r>
              <a:rPr lang="en-US" b="1" dirty="0"/>
              <a:t>seasons, crops, geographical regions, environmental conditions, resource usage, and economic outcomes</a:t>
            </a:r>
            <a:r>
              <a:rPr lang="en-US" dirty="0"/>
              <a:t>. The project uses Python and statistical analysis techniques to clean and analyze the dataset, identify seasonal patterns and relationships, compare crop and regional performance, and study factors affecting yield, production, water efficiency, disease/pest risk, revenue, cost, and profit. The analysis provides </a:t>
            </a:r>
            <a:r>
              <a:rPr lang="en-US" b="1" dirty="0"/>
              <a:t>data-driven insights and recommendations</a:t>
            </a:r>
            <a:r>
              <a:rPr lang="en-US" dirty="0"/>
              <a:t> to support better seasonal agricultural planning and decision-making.</a:t>
            </a:r>
            <a:endParaRPr lang="en-IN"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664E3B60-2780-459A-8583-F095D5E7463A}"/>
              </a:ext>
            </a:extLst>
          </p:cNvPr>
          <p:cNvSpPr>
            <a:spLocks noGrp="1"/>
          </p:cNvSpPr>
          <p:nvPr>
            <p:ph type="body" sz="quarter" idx="12"/>
          </p:nvPr>
        </p:nvSpPr>
        <p:spPr>
          <a:xfrm>
            <a:off x="721359" y="1810694"/>
            <a:ext cx="9454736" cy="4170690"/>
          </a:xfrm>
        </p:spPr>
        <p:txBody>
          <a:bodyPr>
            <a:normAutofit fontScale="40000" lnSpcReduction="20000"/>
          </a:bodyPr>
          <a:lstStyle/>
          <a:p>
            <a:pPr algn="just">
              <a:lnSpc>
                <a:spcPct val="150000"/>
              </a:lnSpc>
            </a:pPr>
            <a:r>
              <a:rPr lang="en-US" sz="3600" b="1" dirty="0"/>
              <a:t>Farmers</a:t>
            </a:r>
            <a:r>
              <a:rPr lang="en-US" sz="3600" dirty="0"/>
              <a:t> – To understand seasonal crop performance and improve farming decisions. </a:t>
            </a:r>
            <a:endParaRPr lang="en-US" sz="3600" dirty="0" smtClean="0"/>
          </a:p>
          <a:p>
            <a:pPr algn="just">
              <a:lnSpc>
                <a:spcPct val="150000"/>
              </a:lnSpc>
            </a:pPr>
            <a:r>
              <a:rPr lang="en-US" sz="3600" b="1" dirty="0" smtClean="0"/>
              <a:t>Agricultural </a:t>
            </a:r>
            <a:r>
              <a:rPr lang="en-US" sz="3600" b="1" dirty="0"/>
              <a:t>Planners</a:t>
            </a:r>
            <a:r>
              <a:rPr lang="en-US" sz="3600" dirty="0"/>
              <a:t> – To support seasonal and regional agricultural planning</a:t>
            </a:r>
            <a:r>
              <a:rPr lang="en-US" sz="3600" dirty="0" smtClean="0"/>
              <a:t>.</a:t>
            </a:r>
          </a:p>
          <a:p>
            <a:pPr algn="just">
              <a:lnSpc>
                <a:spcPct val="150000"/>
              </a:lnSpc>
            </a:pPr>
            <a:r>
              <a:rPr lang="en-US" sz="3600" dirty="0" smtClean="0"/>
              <a:t> </a:t>
            </a:r>
            <a:r>
              <a:rPr lang="en-US" sz="3600" b="1" dirty="0"/>
              <a:t>Agricultural Researchers</a:t>
            </a:r>
            <a:r>
              <a:rPr lang="en-US" sz="3600" dirty="0"/>
              <a:t> – To study patterns, trends, and relationships in agricultural data. </a:t>
            </a:r>
            <a:endParaRPr lang="en-US" sz="3600" dirty="0" smtClean="0"/>
          </a:p>
          <a:p>
            <a:pPr algn="just">
              <a:lnSpc>
                <a:spcPct val="150000"/>
              </a:lnSpc>
            </a:pPr>
            <a:r>
              <a:rPr lang="en-US" sz="3600" b="1" dirty="0" smtClean="0"/>
              <a:t>Government </a:t>
            </a:r>
            <a:r>
              <a:rPr lang="en-US" sz="3600" b="1" dirty="0"/>
              <a:t>&amp; Agriculture Departments</a:t>
            </a:r>
            <a:r>
              <a:rPr lang="en-US" sz="3600" dirty="0"/>
              <a:t> – To support evidence-based agricultural policies and programs. </a:t>
            </a:r>
            <a:endParaRPr lang="en-US" sz="3600" dirty="0" smtClean="0"/>
          </a:p>
          <a:p>
            <a:pPr algn="just">
              <a:lnSpc>
                <a:spcPct val="150000"/>
              </a:lnSpc>
            </a:pPr>
            <a:r>
              <a:rPr lang="en-US" sz="3600" b="1" dirty="0" smtClean="0"/>
              <a:t>Agricultural </a:t>
            </a:r>
            <a:r>
              <a:rPr lang="en-US" sz="3600" b="1" dirty="0"/>
              <a:t>Consultants</a:t>
            </a:r>
            <a:r>
              <a:rPr lang="en-US" sz="3600" dirty="0"/>
              <a:t> – To provide data-driven recommendations for crop and resource management. </a:t>
            </a:r>
            <a:endParaRPr lang="en-US" sz="3600" dirty="0" smtClean="0"/>
          </a:p>
          <a:p>
            <a:pPr algn="just">
              <a:lnSpc>
                <a:spcPct val="150000"/>
              </a:lnSpc>
            </a:pPr>
            <a:r>
              <a:rPr lang="en-US" sz="3600" b="1" dirty="0" smtClean="0"/>
              <a:t>Resource </a:t>
            </a:r>
            <a:r>
              <a:rPr lang="en-US" sz="3600" b="1" dirty="0"/>
              <a:t>Managers</a:t>
            </a:r>
            <a:r>
              <a:rPr lang="en-US" sz="3600" dirty="0"/>
              <a:t> – To improve the efficient use of water, fertilizer, and pesticides. </a:t>
            </a:r>
            <a:endParaRPr lang="en-US" sz="3600" dirty="0" smtClean="0"/>
          </a:p>
          <a:p>
            <a:pPr algn="just">
              <a:lnSpc>
                <a:spcPct val="150000"/>
              </a:lnSpc>
            </a:pPr>
            <a:r>
              <a:rPr lang="en-US" sz="3600" b="1" dirty="0" smtClean="0"/>
              <a:t>Agribusiness </a:t>
            </a:r>
            <a:r>
              <a:rPr lang="en-US" sz="3600" b="1" dirty="0"/>
              <a:t>&amp; Supply Chain Organizations</a:t>
            </a:r>
            <a:r>
              <a:rPr lang="en-US" sz="3600" dirty="0"/>
              <a:t> – To understand production, revenue, and market-related patterns. </a:t>
            </a:r>
            <a:endParaRPr lang="en-US" sz="3600" dirty="0" smtClean="0"/>
          </a:p>
          <a:p>
            <a:pPr algn="just">
              <a:lnSpc>
                <a:spcPct val="150000"/>
              </a:lnSpc>
            </a:pPr>
            <a:r>
              <a:rPr lang="en-US" sz="3600" b="1" dirty="0" smtClean="0"/>
              <a:t>Data </a:t>
            </a:r>
            <a:r>
              <a:rPr lang="en-US" sz="3600" b="1" dirty="0"/>
              <a:t>Analysts &amp; Students</a:t>
            </a:r>
            <a:r>
              <a:rPr lang="en-US" sz="3600" dirty="0"/>
              <a:t> – To explore agricultural datasets and develop analytical insights.</a:t>
            </a:r>
            <a:endParaRPr lang="en-IN" sz="3600" dirty="0"/>
          </a:p>
        </p:txBody>
      </p:sp>
      <p:sp>
        <p:nvSpPr>
          <p:cNvPr id="4" name="Title 3">
            <a:extLst>
              <a:ext uri="{FF2B5EF4-FFF2-40B4-BE49-F238E27FC236}">
                <a16:creationId xmlns:a16="http://schemas.microsoft.com/office/drawing/2014/main" xmlns=""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xmlns=""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6" end="6"/>
                                            </p:txEl>
                                          </p:spTgt>
                                        </p:tgtEl>
                                        <p:attrNameLst>
                                          <p:attrName>style.visibility</p:attrName>
                                        </p:attrNameLst>
                                      </p:cBhvr>
                                      <p:to>
                                        <p:strVal val="visible"/>
                                      </p:to>
                                    </p:set>
                                    <p:animEffect transition="in" filter="fade">
                                      <p:cBhvr>
                                        <p:cTn id="56" dur="1000"/>
                                        <p:tgtEl>
                                          <p:spTgt spid="2">
                                            <p:txEl>
                                              <p:pRg st="6" end="6"/>
                                            </p:txEl>
                                          </p:spTgt>
                                        </p:tgtEl>
                                      </p:cBhvr>
                                    </p:animEffect>
                                    <p:anim calcmode="lin" valueType="num">
                                      <p:cBhvr>
                                        <p:cTn id="5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
                                            <p:txEl>
                                              <p:pRg st="7" end="7"/>
                                            </p:txEl>
                                          </p:spTgt>
                                        </p:tgtEl>
                                        <p:attrNameLst>
                                          <p:attrName>style.visibility</p:attrName>
                                        </p:attrNameLst>
                                      </p:cBhvr>
                                      <p:to>
                                        <p:strVal val="visible"/>
                                      </p:to>
                                    </p:set>
                                    <p:animEffect transition="in" filter="fade">
                                      <p:cBhvr>
                                        <p:cTn id="63" dur="1000"/>
                                        <p:tgtEl>
                                          <p:spTgt spid="2">
                                            <p:txEl>
                                              <p:pRg st="7" end="7"/>
                                            </p:txEl>
                                          </p:spTgt>
                                        </p:tgtEl>
                                      </p:cBhvr>
                                    </p:animEffect>
                                    <p:anim calcmode="lin" valueType="num">
                                      <p:cBhvr>
                                        <p:cTn id="64"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xmlns=""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xmlns=""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xmlns="" id="{B21C28F5-3CA3-4B78-B5C9-550C00BB3174}"/>
              </a:ext>
            </a:extLst>
          </p:cNvPr>
          <p:cNvSpPr>
            <a:spLocks noGrp="1"/>
          </p:cNvSpPr>
          <p:nvPr>
            <p:ph type="body" sz="quarter" idx="12"/>
          </p:nvPr>
        </p:nvSpPr>
        <p:spPr>
          <a:xfrm>
            <a:off x="914400" y="1315059"/>
            <a:ext cx="9027702" cy="5243448"/>
          </a:xfrm>
        </p:spPr>
        <p:txBody>
          <a:bodyPr>
            <a:normAutofit fontScale="92500" lnSpcReduction="20000"/>
          </a:bodyPr>
          <a:lstStyle/>
          <a:p>
            <a:pPr lvl="1">
              <a:lnSpc>
                <a:spcPct val="150000"/>
              </a:lnSpc>
            </a:pPr>
            <a:r>
              <a:rPr lang="en-IN" b="1" dirty="0"/>
              <a:t>Python</a:t>
            </a:r>
            <a:r>
              <a:rPr lang="en-IN" dirty="0"/>
              <a:t> – Main programming language for data analysis. </a:t>
            </a:r>
            <a:endParaRPr lang="en-IN" dirty="0" smtClean="0"/>
          </a:p>
          <a:p>
            <a:pPr lvl="1">
              <a:lnSpc>
                <a:spcPct val="150000"/>
              </a:lnSpc>
            </a:pPr>
            <a:r>
              <a:rPr lang="en-IN" b="1" dirty="0" smtClean="0"/>
              <a:t>Pandas</a:t>
            </a:r>
            <a:r>
              <a:rPr lang="en-IN" dirty="0" smtClean="0"/>
              <a:t> </a:t>
            </a:r>
            <a:r>
              <a:rPr lang="en-IN" dirty="0"/>
              <a:t>– Data cleaning, transformation, and analysis. </a:t>
            </a:r>
            <a:endParaRPr lang="en-IN" dirty="0" smtClean="0"/>
          </a:p>
          <a:p>
            <a:pPr lvl="1">
              <a:lnSpc>
                <a:spcPct val="150000"/>
              </a:lnSpc>
            </a:pPr>
            <a:r>
              <a:rPr lang="en-IN" b="1" dirty="0" err="1" smtClean="0"/>
              <a:t>NumPy</a:t>
            </a:r>
            <a:r>
              <a:rPr lang="en-IN" dirty="0" smtClean="0"/>
              <a:t> </a:t>
            </a:r>
            <a:r>
              <a:rPr lang="en-IN" dirty="0"/>
              <a:t>– Numerical and statistical calculations. </a:t>
            </a:r>
            <a:endParaRPr lang="en-IN" dirty="0" smtClean="0"/>
          </a:p>
          <a:p>
            <a:pPr lvl="1">
              <a:lnSpc>
                <a:spcPct val="150000"/>
              </a:lnSpc>
            </a:pPr>
            <a:r>
              <a:rPr lang="en-IN" b="1" dirty="0" err="1" smtClean="0"/>
              <a:t>Matplotlib</a:t>
            </a:r>
            <a:r>
              <a:rPr lang="en-IN" dirty="0" smtClean="0"/>
              <a:t> </a:t>
            </a:r>
            <a:r>
              <a:rPr lang="en-IN" dirty="0"/>
              <a:t>– Data visualization and graphical analysis. </a:t>
            </a:r>
            <a:endParaRPr lang="en-IN" dirty="0" smtClean="0"/>
          </a:p>
          <a:p>
            <a:pPr lvl="1">
              <a:lnSpc>
                <a:spcPct val="150000"/>
              </a:lnSpc>
            </a:pPr>
            <a:r>
              <a:rPr lang="en-IN" b="1" dirty="0" err="1" smtClean="0"/>
              <a:t>Seaborn</a:t>
            </a:r>
            <a:r>
              <a:rPr lang="en-IN" dirty="0" smtClean="0"/>
              <a:t> </a:t>
            </a:r>
            <a:r>
              <a:rPr lang="en-IN" dirty="0"/>
              <a:t>– Statistical visualizations such as </a:t>
            </a:r>
            <a:r>
              <a:rPr lang="en-IN" dirty="0" err="1"/>
              <a:t>heatmaps</a:t>
            </a:r>
            <a:r>
              <a:rPr lang="en-IN" dirty="0"/>
              <a:t> and relationship plots. </a:t>
            </a:r>
            <a:endParaRPr lang="en-IN" dirty="0" smtClean="0"/>
          </a:p>
          <a:p>
            <a:pPr lvl="1">
              <a:lnSpc>
                <a:spcPct val="150000"/>
              </a:lnSpc>
            </a:pPr>
            <a:r>
              <a:rPr lang="en-IN" b="1" dirty="0" err="1" smtClean="0"/>
              <a:t>SciPy</a:t>
            </a:r>
            <a:r>
              <a:rPr lang="en-IN" dirty="0" smtClean="0"/>
              <a:t> </a:t>
            </a:r>
            <a:r>
              <a:rPr lang="en-IN" dirty="0"/>
              <a:t>– Statistical analysis, including ANOVA and correlation analysis. </a:t>
            </a:r>
            <a:endParaRPr lang="en-IN" dirty="0" smtClean="0"/>
          </a:p>
          <a:p>
            <a:pPr lvl="1">
              <a:lnSpc>
                <a:spcPct val="150000"/>
              </a:lnSpc>
            </a:pPr>
            <a:r>
              <a:rPr lang="en-IN" b="1" dirty="0" err="1" smtClean="0"/>
              <a:t>Jupyter</a:t>
            </a:r>
            <a:r>
              <a:rPr lang="en-IN" b="1" dirty="0" smtClean="0"/>
              <a:t> </a:t>
            </a:r>
            <a:r>
              <a:rPr lang="en-IN" b="1" dirty="0"/>
              <a:t>Notebook</a:t>
            </a:r>
            <a:r>
              <a:rPr lang="en-IN" dirty="0"/>
              <a:t> – Environment for performing and documenting the complete analysis. </a:t>
            </a:r>
            <a:endParaRPr lang="en-IN" dirty="0" smtClean="0"/>
          </a:p>
          <a:p>
            <a:pPr lvl="1">
              <a:lnSpc>
                <a:spcPct val="150000"/>
              </a:lnSpc>
            </a:pPr>
            <a:r>
              <a:rPr lang="en-IN" b="1" dirty="0" smtClean="0"/>
              <a:t>CSV </a:t>
            </a:r>
            <a:r>
              <a:rPr lang="en-IN" b="1" dirty="0"/>
              <a:t>Dataset</a:t>
            </a:r>
            <a:r>
              <a:rPr lang="en-IN" dirty="0"/>
              <a:t> – Source format for the Seasonal Agriculture Performance dataset.</a:t>
            </a:r>
          </a:p>
        </p:txBody>
      </p:sp>
      <p:sp>
        <p:nvSpPr>
          <p:cNvPr id="9" name="Title 8">
            <a:extLst>
              <a:ext uri="{FF2B5EF4-FFF2-40B4-BE49-F238E27FC236}">
                <a16:creationId xmlns:a16="http://schemas.microsoft.com/office/drawing/2014/main" xmlns=""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xEl>
                                              <p:pRg st="7" end="7"/>
                                            </p:txEl>
                                          </p:spTgt>
                                        </p:tgtEl>
                                        <p:attrNameLst>
                                          <p:attrName>style.visibility</p:attrName>
                                        </p:attrNameLst>
                                      </p:cBhvr>
                                      <p:to>
                                        <p:strVal val="visible"/>
                                      </p:to>
                                    </p:set>
                                    <p:animEffect transition="in" filter="fade">
                                      <p:cBhvr>
                                        <p:cTn id="63" dur="1000"/>
                                        <p:tgtEl>
                                          <p:spTgt spid="7">
                                            <p:txEl>
                                              <p:pRg st="7" end="7"/>
                                            </p:txEl>
                                          </p:spTgt>
                                        </p:tgtEl>
                                      </p:cBhvr>
                                    </p:animEffect>
                                    <p:anim calcmode="lin" valueType="num">
                                      <p:cBhvr>
                                        <p:cTn id="64"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xmlns="" id="{B19D8AC7-3787-4ADB-9212-0808F015C2DD}"/>
              </a:ext>
            </a:extLst>
          </p:cNvPr>
          <p:cNvSpPr>
            <a:spLocks noGrp="1"/>
          </p:cNvSpPr>
          <p:nvPr>
            <p:ph type="body" sz="quarter" idx="12"/>
          </p:nvPr>
        </p:nvSpPr>
        <p:spPr>
          <a:xfrm>
            <a:off x="5677575" y="2228196"/>
            <a:ext cx="4319865" cy="1805324"/>
          </a:xfrm>
        </p:spPr>
        <p:txBody>
          <a:bodyPr vert="horz" lIns="91440" tIns="45720" rIns="91440" bIns="45720" rtlCol="0" anchor="t">
            <a:normAutofit fontScale="85000" lnSpcReduction="20000"/>
          </a:bodyPr>
          <a:lstStyle/>
          <a:p>
            <a:pPr marL="0" indent="0">
              <a:buNone/>
            </a:pPr>
            <a:r>
              <a:rPr lang="en-US" b="1" dirty="0"/>
              <a:t>1. Dataset Overview</a:t>
            </a:r>
          </a:p>
          <a:p>
            <a:r>
              <a:rPr lang="en-US" b="1" dirty="0"/>
              <a:t>4,000 farms</a:t>
            </a:r>
            <a:r>
              <a:rPr lang="en-US" dirty="0"/>
              <a:t> were analyzed across </a:t>
            </a:r>
            <a:r>
              <a:rPr lang="en-US" b="1" dirty="0"/>
              <a:t>8 states, 10 districts, 8 crops, and 3 seasons</a:t>
            </a:r>
            <a:r>
              <a:rPr lang="en-US" dirty="0"/>
              <a:t>. </a:t>
            </a:r>
          </a:p>
          <a:p>
            <a:r>
              <a:rPr lang="en-US" dirty="0" err="1"/>
              <a:t>Kharif</a:t>
            </a:r>
            <a:r>
              <a:rPr lang="en-US" dirty="0"/>
              <a:t> has the highest number of farms (</a:t>
            </a:r>
            <a:r>
              <a:rPr lang="en-US" b="1" dirty="0"/>
              <a:t>1,779</a:t>
            </a:r>
            <a:r>
              <a:rPr lang="en-US" dirty="0"/>
              <a:t>), followed by Rabi (</a:t>
            </a:r>
            <a:r>
              <a:rPr lang="en-US" b="1" dirty="0"/>
              <a:t>1,627</a:t>
            </a:r>
            <a:r>
              <a:rPr lang="en-US" dirty="0"/>
              <a:t>) and Zaid (</a:t>
            </a:r>
            <a:r>
              <a:rPr lang="en-US" b="1" dirty="0"/>
              <a:t>594</a:t>
            </a:r>
            <a:r>
              <a:rPr lang="en-US" dirty="0"/>
              <a:t>).</a:t>
            </a:r>
          </a:p>
          <a:p>
            <a:pPr marL="0" indent="0">
              <a:buNone/>
            </a:pPr>
            <a:endParaRPr lang="en-IN" dirty="0"/>
          </a:p>
        </p:txBody>
      </p:sp>
      <p:pic>
        <p:nvPicPr>
          <p:cNvPr id="6" name="Picture 5"/>
          <p:cNvPicPr>
            <a:picLocks noChangeAspect="1"/>
          </p:cNvPicPr>
          <p:nvPr/>
        </p:nvPicPr>
        <p:blipFill rotWithShape="1">
          <a:blip r:embed="rId3">
            <a:extLst>
              <a:ext uri="{28A0092B-C50C-407E-A947-70E740481C1C}">
                <a14:useLocalDpi xmlns:a14="http://schemas.microsoft.com/office/drawing/2010/main" val="0"/>
              </a:ext>
            </a:extLst>
          </a:blip>
          <a:srcRect r="12010"/>
          <a:stretch/>
        </p:blipFill>
        <p:spPr>
          <a:xfrm>
            <a:off x="425514" y="1275370"/>
            <a:ext cx="4745926" cy="4102387"/>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xmlns="" id="{B19D8AC7-3787-4ADB-9212-0808F015C2DD}"/>
              </a:ext>
            </a:extLst>
          </p:cNvPr>
          <p:cNvSpPr>
            <a:spLocks noGrp="1"/>
          </p:cNvSpPr>
          <p:nvPr>
            <p:ph type="body" sz="quarter" idx="12"/>
          </p:nvPr>
        </p:nvSpPr>
        <p:spPr>
          <a:xfrm>
            <a:off x="5891584" y="2509810"/>
            <a:ext cx="4502095" cy="1777710"/>
          </a:xfrm>
        </p:spPr>
        <p:txBody>
          <a:bodyPr vert="horz" lIns="91440" tIns="45720" rIns="91440" bIns="45720" rtlCol="0" anchor="t">
            <a:normAutofit fontScale="70000" lnSpcReduction="20000"/>
          </a:bodyPr>
          <a:lstStyle/>
          <a:p>
            <a:pPr marL="0" indent="0">
              <a:buNone/>
            </a:pPr>
            <a:r>
              <a:rPr lang="en-US" b="1" dirty="0"/>
              <a:t>2. Data Cleaning</a:t>
            </a:r>
          </a:p>
          <a:p>
            <a:r>
              <a:rPr lang="en-US" dirty="0"/>
              <a:t>Duplicate records were checked and </a:t>
            </a:r>
            <a:r>
              <a:rPr lang="en-US" b="1" dirty="0"/>
              <a:t>0 duplicate rows</a:t>
            </a:r>
            <a:r>
              <a:rPr lang="en-US" dirty="0"/>
              <a:t> were found. </a:t>
            </a:r>
          </a:p>
          <a:p>
            <a:r>
              <a:rPr lang="en-US" dirty="0"/>
              <a:t>Missing values were handled using appropriate </a:t>
            </a:r>
            <a:r>
              <a:rPr lang="en-US" b="1" dirty="0"/>
              <a:t>median/mode imputation</a:t>
            </a:r>
            <a:r>
              <a:rPr lang="en-US" dirty="0"/>
              <a:t>. </a:t>
            </a:r>
          </a:p>
          <a:p>
            <a:r>
              <a:rPr lang="en-US" dirty="0"/>
              <a:t>Final dataset has </a:t>
            </a:r>
            <a:r>
              <a:rPr lang="en-US" b="1" dirty="0"/>
              <a:t>0 remaining missing values</a:t>
            </a:r>
            <a:r>
              <a:rPr lang="en-US" dirty="0"/>
              <a:t>.</a:t>
            </a:r>
          </a:p>
        </p:txBody>
      </p:sp>
      <p:pic>
        <p:nvPicPr>
          <p:cNvPr id="9" name="Picture 8"/>
          <p:cNvPicPr>
            <a:picLocks noChangeAspect="1"/>
          </p:cNvPicPr>
          <p:nvPr/>
        </p:nvPicPr>
        <p:blipFill rotWithShape="1">
          <a:blip r:embed="rId3">
            <a:extLst>
              <a:ext uri="{28A0092B-C50C-407E-A947-70E740481C1C}">
                <a14:useLocalDpi xmlns:a14="http://schemas.microsoft.com/office/drawing/2010/main" val="0"/>
              </a:ext>
            </a:extLst>
          </a:blip>
          <a:srcRect r="22274"/>
          <a:stretch/>
        </p:blipFill>
        <p:spPr>
          <a:xfrm>
            <a:off x="555020" y="1117600"/>
            <a:ext cx="5185379" cy="5547360"/>
          </a:xfrm>
          <a:prstGeom prst="rect">
            <a:avLst/>
          </a:prstGeom>
        </p:spPr>
      </p:pic>
    </p:spTree>
    <p:extLst>
      <p:ext uri="{BB962C8B-B14F-4D97-AF65-F5344CB8AC3E}">
        <p14:creationId xmlns:p14="http://schemas.microsoft.com/office/powerpoint/2010/main" val="2115761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xmlns="" id="{3A64DB11-806F-1A4C-E0D5-D745D29CED50}"/>
              </a:ext>
            </a:extLst>
          </p:cNvPr>
          <p:cNvSpPr>
            <a:spLocks noGrp="1"/>
          </p:cNvSpPr>
          <p:nvPr>
            <p:ph type="body" sz="quarter" idx="12"/>
          </p:nvPr>
        </p:nvSpPr>
        <p:spPr>
          <a:xfrm>
            <a:off x="5257244" y="2325772"/>
            <a:ext cx="4608116" cy="2114148"/>
          </a:xfrm>
        </p:spPr>
        <p:txBody>
          <a:bodyPr>
            <a:normAutofit fontScale="70000" lnSpcReduction="20000"/>
          </a:bodyPr>
          <a:lstStyle/>
          <a:p>
            <a:pPr marL="0" indent="0">
              <a:buNone/>
            </a:pPr>
            <a:r>
              <a:rPr lang="en-US" b="1" dirty="0"/>
              <a:t>3. Seasonal Performance</a:t>
            </a:r>
          </a:p>
          <a:p>
            <a:r>
              <a:rPr lang="en-US" b="1" dirty="0" err="1"/>
              <a:t>Kharif</a:t>
            </a:r>
            <a:r>
              <a:rPr lang="en-US" dirty="0"/>
              <a:t> has the highest average yield at approximately </a:t>
            </a:r>
            <a:r>
              <a:rPr lang="en-US" b="1" dirty="0"/>
              <a:t>5.61 </a:t>
            </a:r>
            <a:r>
              <a:rPr lang="en-US" b="1" dirty="0" err="1"/>
              <a:t>tonnes</a:t>
            </a:r>
            <a:r>
              <a:rPr lang="en-US" b="1" dirty="0"/>
              <a:t>/ha</a:t>
            </a:r>
            <a:r>
              <a:rPr lang="en-US" dirty="0"/>
              <a:t>. </a:t>
            </a:r>
          </a:p>
          <a:p>
            <a:r>
              <a:rPr lang="en-US" b="1" dirty="0"/>
              <a:t>Rabi</a:t>
            </a:r>
            <a:r>
              <a:rPr lang="en-US" dirty="0"/>
              <a:t> averages about </a:t>
            </a:r>
            <a:r>
              <a:rPr lang="en-US" b="1" dirty="0"/>
              <a:t>5.02 </a:t>
            </a:r>
            <a:r>
              <a:rPr lang="en-US" b="1" dirty="0" err="1"/>
              <a:t>tonnes</a:t>
            </a:r>
            <a:r>
              <a:rPr lang="en-US" b="1" dirty="0"/>
              <a:t>/ha</a:t>
            </a:r>
            <a:r>
              <a:rPr lang="en-US" dirty="0"/>
              <a:t>. </a:t>
            </a:r>
          </a:p>
          <a:p>
            <a:r>
              <a:rPr lang="en-US" b="1" dirty="0"/>
              <a:t>Zaid</a:t>
            </a:r>
            <a:r>
              <a:rPr lang="en-US" dirty="0"/>
              <a:t> has the lowest average yield at about </a:t>
            </a:r>
            <a:r>
              <a:rPr lang="en-US" b="1" dirty="0"/>
              <a:t>4.63 </a:t>
            </a:r>
            <a:r>
              <a:rPr lang="en-US" b="1" dirty="0" err="1"/>
              <a:t>tonnes</a:t>
            </a:r>
            <a:r>
              <a:rPr lang="en-US" b="1" dirty="0"/>
              <a:t>/ha</a:t>
            </a:r>
            <a:r>
              <a:rPr lang="en-US" dirty="0"/>
              <a:t>. </a:t>
            </a:r>
          </a:p>
          <a:p>
            <a:r>
              <a:rPr lang="en-US" dirty="0"/>
              <a:t>The boxplot also shows several high-yield observations/outliers.</a:t>
            </a:r>
          </a:p>
        </p:txBody>
      </p:sp>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r="38123"/>
          <a:stretch/>
        </p:blipFill>
        <p:spPr>
          <a:xfrm>
            <a:off x="822960" y="1275371"/>
            <a:ext cx="3698240" cy="4901909"/>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4" end="4"/>
                                            </p:txEl>
                                          </p:spTgt>
                                        </p:tgtEl>
                                        <p:attrNameLst>
                                          <p:attrName>style.visibility</p:attrName>
                                        </p:attrNameLst>
                                      </p:cBhvr>
                                      <p:to>
                                        <p:strVal val="visible"/>
                                      </p:to>
                                    </p:set>
                                    <p:animEffect transition="in" filter="fade">
                                      <p:cBhvr>
                                        <p:cTn id="56" dur="1000"/>
                                        <p:tgtEl>
                                          <p:spTgt spid="10">
                                            <p:txEl>
                                              <p:pRg st="4" end="4"/>
                                            </p:txEl>
                                          </p:spTgt>
                                        </p:tgtEl>
                                      </p:cBhvr>
                                    </p:animEffect>
                                    <p:anim calcmode="lin" valueType="num">
                                      <p:cBhvr>
                                        <p:cTn id="57"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xmlns="" id="{B6E3B1C7-6A8B-23EE-6251-DC1067C6ADE9}"/>
              </a:ext>
            </a:extLst>
          </p:cNvPr>
          <p:cNvSpPr>
            <a:spLocks noGrp="1"/>
          </p:cNvSpPr>
          <p:nvPr>
            <p:ph type="body" sz="quarter" idx="12"/>
          </p:nvPr>
        </p:nvSpPr>
        <p:spPr>
          <a:xfrm>
            <a:off x="6156960" y="2083689"/>
            <a:ext cx="5496560" cy="2397759"/>
          </a:xfrm>
        </p:spPr>
        <p:txBody>
          <a:bodyPr>
            <a:normAutofit fontScale="85000" lnSpcReduction="20000"/>
          </a:bodyPr>
          <a:lstStyle/>
          <a:p>
            <a:pPr marL="0" indent="0">
              <a:buNone/>
            </a:pPr>
            <a:r>
              <a:rPr lang="en-US" b="1" dirty="0"/>
              <a:t>4. Crop Performance</a:t>
            </a:r>
          </a:p>
          <a:p>
            <a:r>
              <a:rPr lang="en-US" b="1" dirty="0"/>
              <a:t>Sugarcane</a:t>
            </a:r>
            <a:r>
              <a:rPr lang="en-US" dirty="0"/>
              <a:t> has the highest average yield (</a:t>
            </a:r>
            <a:r>
              <a:rPr lang="en-US" b="1" dirty="0"/>
              <a:t>46.64 </a:t>
            </a:r>
            <a:r>
              <a:rPr lang="en-US" b="1" dirty="0" err="1"/>
              <a:t>tonnes</a:t>
            </a:r>
            <a:r>
              <a:rPr lang="en-US" b="1" dirty="0"/>
              <a:t>/ha</a:t>
            </a:r>
            <a:r>
              <a:rPr lang="en-US" dirty="0"/>
              <a:t>). </a:t>
            </a:r>
          </a:p>
          <a:p>
            <a:r>
              <a:rPr lang="en-US" b="1" dirty="0"/>
              <a:t>Maize</a:t>
            </a:r>
            <a:r>
              <a:rPr lang="en-US" dirty="0"/>
              <a:t> follows at </a:t>
            </a:r>
            <a:r>
              <a:rPr lang="en-US" b="1" dirty="0"/>
              <a:t>2.71 </a:t>
            </a:r>
            <a:r>
              <a:rPr lang="en-US" b="1" dirty="0" err="1"/>
              <a:t>tonnes</a:t>
            </a:r>
            <a:r>
              <a:rPr lang="en-US" b="1" dirty="0"/>
              <a:t>/ha</a:t>
            </a:r>
            <a:r>
              <a:rPr lang="en-US" dirty="0"/>
              <a:t>. </a:t>
            </a:r>
          </a:p>
          <a:p>
            <a:r>
              <a:rPr lang="en-US" b="1" dirty="0"/>
              <a:t>Pulses</a:t>
            </a:r>
            <a:r>
              <a:rPr lang="en-US" dirty="0"/>
              <a:t> has the lowest average yield (</a:t>
            </a:r>
            <a:r>
              <a:rPr lang="en-US" b="1" dirty="0"/>
              <a:t>0.92 </a:t>
            </a:r>
            <a:r>
              <a:rPr lang="en-US" b="1" dirty="0" err="1"/>
              <a:t>tonnes</a:t>
            </a:r>
            <a:r>
              <a:rPr lang="en-US" b="1" dirty="0"/>
              <a:t>/ha</a:t>
            </a:r>
            <a:r>
              <a:rPr lang="en-US" dirty="0"/>
              <a:t>). </a:t>
            </a:r>
          </a:p>
          <a:p>
            <a:r>
              <a:rPr lang="en-US" dirty="0"/>
              <a:t>Sugarcane also shows the highest average water efficiency (</a:t>
            </a:r>
            <a:r>
              <a:rPr lang="en-US" b="1" dirty="0"/>
              <a:t>30.48 </a:t>
            </a:r>
            <a:r>
              <a:rPr lang="en-US" b="1" dirty="0" err="1"/>
              <a:t>tonnes</a:t>
            </a:r>
            <a:r>
              <a:rPr lang="en-US" b="1" dirty="0"/>
              <a:t>/1,000 m³</a:t>
            </a:r>
            <a:r>
              <a:rPr lang="en-US" dirty="0"/>
              <a:t>).</a:t>
            </a:r>
          </a:p>
          <a:p>
            <a:endParaRPr lang="en-US" b="1" dirty="0"/>
          </a:p>
        </p:txBody>
      </p:sp>
      <p:pic>
        <p:nvPicPr>
          <p:cNvPr id="9" name="Picture 8"/>
          <p:cNvPicPr>
            <a:picLocks noChangeAspect="1"/>
          </p:cNvPicPr>
          <p:nvPr/>
        </p:nvPicPr>
        <p:blipFill rotWithShape="1">
          <a:blip r:embed="rId3">
            <a:extLst>
              <a:ext uri="{28A0092B-C50C-407E-A947-70E740481C1C}">
                <a14:useLocalDpi xmlns:a14="http://schemas.microsoft.com/office/drawing/2010/main" val="0"/>
              </a:ext>
            </a:extLst>
          </a:blip>
          <a:srcRect r="11492"/>
          <a:stretch/>
        </p:blipFill>
        <p:spPr>
          <a:xfrm>
            <a:off x="402262" y="1275371"/>
            <a:ext cx="5399098" cy="5017329"/>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4" end="4"/>
                                            </p:txEl>
                                          </p:spTgt>
                                        </p:tgtEl>
                                        <p:attrNameLst>
                                          <p:attrName>style.visibility</p:attrName>
                                        </p:attrNameLst>
                                      </p:cBhvr>
                                      <p:to>
                                        <p:strVal val="visible"/>
                                      </p:to>
                                    </p:set>
                                    <p:animEffect transition="in" filter="fade">
                                      <p:cBhvr>
                                        <p:cTn id="56" dur="1000"/>
                                        <p:tgtEl>
                                          <p:spTgt spid="10">
                                            <p:txEl>
                                              <p:pRg st="4" end="4"/>
                                            </p:txEl>
                                          </p:spTgt>
                                        </p:tgtEl>
                                      </p:cBhvr>
                                    </p:animEffect>
                                    <p:anim calcmode="lin" valueType="num">
                                      <p:cBhvr>
                                        <p:cTn id="57"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xmlns="" id="{2B7B89A1-9444-8322-CADC-42D31D698FA8}"/>
              </a:ext>
            </a:extLst>
          </p:cNvPr>
          <p:cNvSpPr>
            <a:spLocks noGrp="1"/>
          </p:cNvSpPr>
          <p:nvPr>
            <p:ph type="body" sz="quarter" idx="12"/>
          </p:nvPr>
        </p:nvSpPr>
        <p:spPr>
          <a:xfrm>
            <a:off x="6293564" y="2396892"/>
            <a:ext cx="4740196" cy="2581508"/>
          </a:xfrm>
        </p:spPr>
        <p:txBody>
          <a:bodyPr>
            <a:normAutofit fontScale="85000" lnSpcReduction="10000"/>
          </a:bodyPr>
          <a:lstStyle/>
          <a:p>
            <a:pPr marL="0" indent="0">
              <a:buNone/>
            </a:pPr>
            <a:r>
              <a:rPr lang="en-US" b="1" dirty="0"/>
              <a:t>5. Irrigation &amp; Water Efficiency</a:t>
            </a:r>
          </a:p>
          <a:p>
            <a:r>
              <a:rPr lang="en-US" b="1" dirty="0"/>
              <a:t>Drip irrigation</a:t>
            </a:r>
            <a:r>
              <a:rPr lang="en-US" dirty="0"/>
              <a:t> has the highest average yield (</a:t>
            </a:r>
            <a:r>
              <a:rPr lang="en-US" b="1" dirty="0"/>
              <a:t>6.58 </a:t>
            </a:r>
            <a:r>
              <a:rPr lang="en-US" b="1" dirty="0" err="1"/>
              <a:t>tonnes</a:t>
            </a:r>
            <a:r>
              <a:rPr lang="en-US" b="1" dirty="0"/>
              <a:t>/ha</a:t>
            </a:r>
            <a:r>
              <a:rPr lang="en-US" dirty="0"/>
              <a:t>) and highest average profit. </a:t>
            </a:r>
          </a:p>
          <a:p>
            <a:r>
              <a:rPr lang="en-US" b="1" dirty="0" err="1"/>
              <a:t>Rainfed</a:t>
            </a:r>
            <a:r>
              <a:rPr lang="en-US" dirty="0"/>
              <a:t> farming has the highest water efficiency (</a:t>
            </a:r>
            <a:r>
              <a:rPr lang="en-US" b="1" dirty="0"/>
              <a:t>7.56 </a:t>
            </a:r>
            <a:r>
              <a:rPr lang="en-US" b="1" dirty="0" err="1"/>
              <a:t>tonnes</a:t>
            </a:r>
            <a:r>
              <a:rPr lang="en-US" b="1" dirty="0"/>
              <a:t>/1,000 m³</a:t>
            </a:r>
            <a:r>
              <a:rPr lang="en-US" dirty="0"/>
              <a:t>). </a:t>
            </a:r>
          </a:p>
          <a:p>
            <a:r>
              <a:rPr lang="en-US" dirty="0"/>
              <a:t>This indicates that irrigation method can be an important factor when evaluating yield, water use, and profitability.</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7770" y="1608410"/>
            <a:ext cx="5349704" cy="4054191"/>
          </a:xfrm>
          <a:prstGeom prst="rect">
            <a:avLst/>
          </a:prstGeom>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7419" y="1422208"/>
            <a:ext cx="5995975" cy="4724589"/>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xmlns="" id="{F85C769B-425A-FE3B-E47A-3B747985DC52}"/>
              </a:ext>
            </a:extLst>
          </p:cNvPr>
          <p:cNvSpPr>
            <a:spLocks noGrp="1"/>
          </p:cNvSpPr>
          <p:nvPr>
            <p:ph type="body" sz="quarter" idx="12"/>
          </p:nvPr>
        </p:nvSpPr>
        <p:spPr>
          <a:xfrm>
            <a:off x="6360160" y="2518812"/>
            <a:ext cx="4553982" cy="2002388"/>
          </a:xfrm>
        </p:spPr>
        <p:txBody>
          <a:bodyPr>
            <a:normAutofit fontScale="55000" lnSpcReduction="20000"/>
          </a:bodyPr>
          <a:lstStyle/>
          <a:p>
            <a:pPr marL="0" indent="0">
              <a:buNone/>
            </a:pPr>
            <a:r>
              <a:rPr lang="en-US" b="1" dirty="0"/>
              <a:t>6. Correlation Analysis</a:t>
            </a:r>
          </a:p>
          <a:p>
            <a:r>
              <a:rPr lang="en-US" dirty="0"/>
              <a:t>The </a:t>
            </a:r>
            <a:r>
              <a:rPr lang="en-US" dirty="0" err="1"/>
              <a:t>heatmap</a:t>
            </a:r>
            <a:r>
              <a:rPr lang="en-US" dirty="0"/>
              <a:t> shows relationships among </a:t>
            </a:r>
            <a:r>
              <a:rPr lang="en-US" b="1" dirty="0"/>
              <a:t>environmental, resource, production, and economic variables</a:t>
            </a:r>
            <a:r>
              <a:rPr lang="en-US" dirty="0"/>
              <a:t>. </a:t>
            </a:r>
          </a:p>
          <a:p>
            <a:r>
              <a:rPr lang="en-US" dirty="0"/>
              <a:t>Yield has a strong positive relationship with production. </a:t>
            </a:r>
          </a:p>
          <a:p>
            <a:r>
              <a:rPr lang="en-US" dirty="0"/>
              <a:t>Revenue and profit also show strong relationships with production/economic variables. </a:t>
            </a:r>
          </a:p>
          <a:p>
            <a:r>
              <a:rPr lang="en-US" dirty="0"/>
              <a:t>Correlation indicates association, </a:t>
            </a:r>
            <a:r>
              <a:rPr lang="en-US" b="1" dirty="0"/>
              <a:t>not necessarily causation</a:t>
            </a:r>
            <a:r>
              <a:rPr lang="en-US" dirty="0"/>
              <a:t>.</a:t>
            </a:r>
          </a:p>
          <a:p>
            <a:pPr marL="0" indent="0">
              <a:buNone/>
            </a:pPr>
            <a:endParaRPr lang="en-IN" dirty="0"/>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7770" y="1608410"/>
            <a:ext cx="5349704" cy="4054191"/>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4" end="4"/>
                                            </p:txEl>
                                          </p:spTgt>
                                        </p:tgtEl>
                                        <p:attrNameLst>
                                          <p:attrName>style.visibility</p:attrName>
                                        </p:attrNameLst>
                                      </p:cBhvr>
                                      <p:to>
                                        <p:strVal val="visible"/>
                                      </p:to>
                                    </p:set>
                                    <p:animEffect transition="in" filter="fade">
                                      <p:cBhvr>
                                        <p:cTn id="56" dur="1000"/>
                                        <p:tgtEl>
                                          <p:spTgt spid="10">
                                            <p:txEl>
                                              <p:pRg st="4" end="4"/>
                                            </p:txEl>
                                          </p:spTgt>
                                        </p:tgtEl>
                                      </p:cBhvr>
                                    </p:animEffect>
                                    <p:anim calcmode="lin" valueType="num">
                                      <p:cBhvr>
                                        <p:cTn id="57"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xmlns="" id="{F85C769B-425A-FE3B-E47A-3B747985DC52}"/>
              </a:ext>
            </a:extLst>
          </p:cNvPr>
          <p:cNvSpPr>
            <a:spLocks noGrp="1"/>
          </p:cNvSpPr>
          <p:nvPr>
            <p:ph type="body" sz="quarter" idx="12"/>
          </p:nvPr>
        </p:nvSpPr>
        <p:spPr>
          <a:xfrm>
            <a:off x="6131004" y="2579772"/>
            <a:ext cx="4275138" cy="2032868"/>
          </a:xfrm>
        </p:spPr>
        <p:txBody>
          <a:bodyPr>
            <a:normAutofit fontScale="62500" lnSpcReduction="20000"/>
          </a:bodyPr>
          <a:lstStyle/>
          <a:p>
            <a:pPr marL="0" indent="0">
              <a:buNone/>
            </a:pPr>
            <a:r>
              <a:rPr lang="en-US" b="1" dirty="0"/>
              <a:t>7. Overall Project Result</a:t>
            </a:r>
          </a:p>
          <a:p>
            <a:r>
              <a:rPr lang="en-US" dirty="0"/>
              <a:t>Total production: </a:t>
            </a:r>
            <a:r>
              <a:rPr lang="en-US" b="1" dirty="0"/>
              <a:t>172,984.84 </a:t>
            </a:r>
            <a:r>
              <a:rPr lang="en-US" b="1" dirty="0" err="1"/>
              <a:t>tonnes</a:t>
            </a:r>
            <a:r>
              <a:rPr lang="en-US" dirty="0"/>
              <a:t> </a:t>
            </a:r>
          </a:p>
          <a:p>
            <a:r>
              <a:rPr lang="en-US" dirty="0"/>
              <a:t>Total revenue: </a:t>
            </a:r>
            <a:r>
              <a:rPr lang="en-US" b="1" dirty="0"/>
              <a:t>₹2.55 billion</a:t>
            </a:r>
            <a:r>
              <a:rPr lang="en-US" dirty="0"/>
              <a:t> </a:t>
            </a:r>
          </a:p>
          <a:p>
            <a:r>
              <a:rPr lang="en-US" dirty="0"/>
              <a:t>Total profit: </a:t>
            </a:r>
            <a:r>
              <a:rPr lang="en-US" b="1" dirty="0"/>
              <a:t>₹446.23 million</a:t>
            </a:r>
            <a:r>
              <a:rPr lang="en-US" dirty="0"/>
              <a:t> </a:t>
            </a:r>
          </a:p>
          <a:p>
            <a:r>
              <a:rPr lang="en-US" dirty="0"/>
              <a:t>Overall average yield: </a:t>
            </a:r>
            <a:r>
              <a:rPr lang="en-US" b="1" dirty="0"/>
              <a:t>5.24 </a:t>
            </a:r>
            <a:r>
              <a:rPr lang="en-US" b="1" dirty="0" err="1"/>
              <a:t>tonnes</a:t>
            </a:r>
            <a:r>
              <a:rPr lang="en-US" b="1" dirty="0"/>
              <a:t>/ha</a:t>
            </a:r>
            <a:r>
              <a:rPr lang="en-US" dirty="0"/>
              <a:t> </a:t>
            </a:r>
          </a:p>
          <a:p>
            <a:r>
              <a:rPr lang="en-US" dirty="0"/>
              <a:t>ANOVA p-value = </a:t>
            </a:r>
            <a:r>
              <a:rPr lang="en-US" b="1" dirty="0"/>
              <a:t>0.213678</a:t>
            </a:r>
            <a:r>
              <a:rPr lang="en-US" dirty="0"/>
              <a:t>, so seasonal yield differences were </a:t>
            </a:r>
            <a:r>
              <a:rPr lang="en-US" b="1" dirty="0"/>
              <a:t>not statistically significant at the 5% level</a:t>
            </a:r>
            <a:r>
              <a:rPr lang="en-US" dirty="0"/>
              <a:t>.</a:t>
            </a:r>
          </a:p>
        </p:txBody>
      </p:sp>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r="14705"/>
          <a:stretch/>
        </p:blipFill>
        <p:spPr>
          <a:xfrm>
            <a:off x="558515" y="1503680"/>
            <a:ext cx="4907565" cy="3921760"/>
          </a:xfrm>
          <a:prstGeom prst="rect">
            <a:avLst/>
          </a:prstGeom>
        </p:spPr>
      </p:pic>
    </p:spTree>
    <p:extLst>
      <p:ext uri="{BB962C8B-B14F-4D97-AF65-F5344CB8AC3E}">
        <p14:creationId xmlns:p14="http://schemas.microsoft.com/office/powerpoint/2010/main" val="871646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4" end="4"/>
                                            </p:txEl>
                                          </p:spTgt>
                                        </p:tgtEl>
                                        <p:attrNameLst>
                                          <p:attrName>style.visibility</p:attrName>
                                        </p:attrNameLst>
                                      </p:cBhvr>
                                      <p:to>
                                        <p:strVal val="visible"/>
                                      </p:to>
                                    </p:set>
                                    <p:animEffect transition="in" filter="fade">
                                      <p:cBhvr>
                                        <p:cTn id="56" dur="1000"/>
                                        <p:tgtEl>
                                          <p:spTgt spid="10">
                                            <p:txEl>
                                              <p:pRg st="4" end="4"/>
                                            </p:txEl>
                                          </p:spTgt>
                                        </p:tgtEl>
                                      </p:cBhvr>
                                    </p:animEffect>
                                    <p:anim calcmode="lin" valueType="num">
                                      <p:cBhvr>
                                        <p:cTn id="57"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10">
                                            <p:txEl>
                                              <p:pRg st="5" end="5"/>
                                            </p:txEl>
                                          </p:spTgt>
                                        </p:tgtEl>
                                        <p:attrNameLst>
                                          <p:attrName>style.visibility</p:attrName>
                                        </p:attrNameLst>
                                      </p:cBhvr>
                                      <p:to>
                                        <p:strVal val="visible"/>
                                      </p:to>
                                    </p:set>
                                    <p:animEffect transition="in" filter="fade">
                                      <p:cBhvr>
                                        <p:cTn id="63" dur="1000"/>
                                        <p:tgtEl>
                                          <p:spTgt spid="10">
                                            <p:txEl>
                                              <p:pRg st="5" end="5"/>
                                            </p:txEl>
                                          </p:spTgt>
                                        </p:tgtEl>
                                      </p:cBhvr>
                                    </p:animEffect>
                                    <p:anim calcmode="lin" valueType="num">
                                      <p:cBhvr>
                                        <p:cTn id="64" dur="10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65" dur="1000" fill="hold"/>
                                        <p:tgtEl>
                                          <p:spTgt spid="10">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xmlns=""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p:cNvSpPr txBox="1"/>
          <p:nvPr/>
        </p:nvSpPr>
        <p:spPr>
          <a:xfrm>
            <a:off x="675957" y="1275371"/>
            <a:ext cx="8870715" cy="4801314"/>
          </a:xfrm>
          <a:prstGeom prst="rect">
            <a:avLst/>
          </a:prstGeom>
          <a:noFill/>
        </p:spPr>
        <p:txBody>
          <a:bodyPr wrap="square" rtlCol="0">
            <a:spAutoFit/>
          </a:bodyPr>
          <a:lstStyle/>
          <a:p>
            <a:pPr marL="342900" indent="-342900">
              <a:buFont typeface="+mj-lt"/>
              <a:buAutoNum type="arabicPeriod"/>
            </a:pPr>
            <a:r>
              <a:rPr lang="en-US" b="1" dirty="0" smtClean="0"/>
              <a:t>Predictive </a:t>
            </a:r>
            <a:r>
              <a:rPr lang="en-US" b="1" dirty="0"/>
              <a:t>Analysis</a:t>
            </a:r>
            <a:r>
              <a:rPr lang="en-US" dirty="0"/>
              <a:t> – Use Machine Learning to predict future crop yield, production, and profit.</a:t>
            </a:r>
          </a:p>
          <a:p>
            <a:pPr marL="342900" indent="-342900">
              <a:buFont typeface="+mj-lt"/>
              <a:buAutoNum type="arabicPeriod"/>
            </a:pPr>
            <a:r>
              <a:rPr lang="en-US" b="1" dirty="0"/>
              <a:t>Weather Data Integration</a:t>
            </a:r>
            <a:r>
              <a:rPr lang="en-US" dirty="0"/>
              <a:t> – Integrate real-time weather data such as rainfall, temperature, and humidity.</a:t>
            </a:r>
          </a:p>
          <a:p>
            <a:pPr marL="342900" indent="-342900">
              <a:buFont typeface="+mj-lt"/>
              <a:buAutoNum type="arabicPeriod"/>
            </a:pPr>
            <a:r>
              <a:rPr lang="en-US" b="1" dirty="0"/>
              <a:t>Crop Recommendation System</a:t>
            </a:r>
            <a:r>
              <a:rPr lang="en-US" dirty="0"/>
              <a:t> – Recommend suitable crops based on season, soil, weather, and historical performance.</a:t>
            </a:r>
          </a:p>
          <a:p>
            <a:pPr marL="342900" indent="-342900">
              <a:buFont typeface="+mj-lt"/>
              <a:buAutoNum type="arabicPeriod"/>
            </a:pPr>
            <a:r>
              <a:rPr lang="en-US" b="1" dirty="0"/>
              <a:t>Smart Resource Management</a:t>
            </a:r>
            <a:r>
              <a:rPr lang="en-US" dirty="0"/>
              <a:t> – Optimize water, fertilizer, pesticide, and other resource usage.</a:t>
            </a:r>
          </a:p>
          <a:p>
            <a:pPr marL="342900" indent="-342900">
              <a:buFont typeface="+mj-lt"/>
              <a:buAutoNum type="arabicPeriod"/>
            </a:pPr>
            <a:r>
              <a:rPr lang="en-US" b="1" dirty="0"/>
              <a:t>Disease &amp; Pest Prediction</a:t>
            </a:r>
            <a:r>
              <a:rPr lang="en-US" dirty="0"/>
              <a:t> – Develop models to predict crop disease and pest risks.</a:t>
            </a:r>
          </a:p>
          <a:p>
            <a:pPr marL="342900" indent="-342900">
              <a:buFont typeface="+mj-lt"/>
              <a:buAutoNum type="arabicPeriod"/>
            </a:pPr>
            <a:r>
              <a:rPr lang="en-US" b="1" dirty="0"/>
              <a:t>Regional Expansion</a:t>
            </a:r>
            <a:r>
              <a:rPr lang="en-US" dirty="0"/>
              <a:t> – Extend the analysis to more states, districts, crops, and farming conditions.</a:t>
            </a:r>
          </a:p>
          <a:p>
            <a:pPr marL="342900" indent="-342900">
              <a:buFont typeface="+mj-lt"/>
              <a:buAutoNum type="arabicPeriod"/>
            </a:pPr>
            <a:r>
              <a:rPr lang="en-US" b="1" dirty="0"/>
              <a:t>Interactive Dashboard</a:t>
            </a:r>
            <a:r>
              <a:rPr lang="en-US" dirty="0"/>
              <a:t> – Develop an interactive Power BI/web dashboard for farmers and agricultural decision-makers.</a:t>
            </a:r>
          </a:p>
          <a:p>
            <a:pPr marL="342900" indent="-342900">
              <a:buFont typeface="+mj-lt"/>
              <a:buAutoNum type="arabicPeriod"/>
            </a:pPr>
            <a:r>
              <a:rPr lang="en-US" b="1" dirty="0"/>
              <a:t>AI-Based Decision Support</a:t>
            </a:r>
            <a:r>
              <a:rPr lang="en-US" dirty="0"/>
              <a:t> – Build an AI-driven system that provides data-based recommendations for seasonal agricultural planning.</a:t>
            </a:r>
          </a:p>
          <a:p>
            <a:endParaRPr lang="en-IN"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xmlns=""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p:cNvSpPr txBox="1"/>
          <p:nvPr/>
        </p:nvSpPr>
        <p:spPr>
          <a:xfrm>
            <a:off x="516564" y="1401177"/>
            <a:ext cx="9625725" cy="369332"/>
          </a:xfrm>
          <a:prstGeom prst="rect">
            <a:avLst/>
          </a:prstGeom>
          <a:noFill/>
        </p:spPr>
        <p:txBody>
          <a:bodyPr wrap="square" rtlCol="0">
            <a:spAutoFit/>
          </a:bodyPr>
          <a:lstStyle/>
          <a:p>
            <a:r>
              <a:rPr lang="en-IN" dirty="0"/>
              <a:t>https://github.com/harshadamali14-rgb/Seasonal-Agriculture-Performance-Analysis.git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xmlns=""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5914" y="1778466"/>
            <a:ext cx="6919560" cy="4419358"/>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xmlns="" id="{D88C20CF-C1EE-4092-B52D-FD4AB2AB2508}"/>
              </a:ext>
            </a:extLst>
          </p:cNvPr>
          <p:cNvSpPr>
            <a:spLocks noGrp="1"/>
          </p:cNvSpPr>
          <p:nvPr>
            <p:ph type="title"/>
          </p:nvPr>
        </p:nvSpPr>
        <p:spPr>
          <a:xfrm>
            <a:off x="2072081" y="2577167"/>
            <a:ext cx="7499758"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xmlns=""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xmlns=""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xmlns=""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xmlns=""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xmlns=""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xmlns=""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xmlns=""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xmlns=""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624</TotalTime>
  <Words>887</Words>
  <Application>Microsoft Office PowerPoint</Application>
  <PresentationFormat>Custom</PresentationFormat>
  <Paragraphs>84</Paragraphs>
  <Slides>16</Slides>
  <Notes>1</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Facet</vt:lpstr>
      <vt:lpstr>Project Title -Seasonal Agriculture Performance Analysis</vt:lpstr>
      <vt:lpstr>PROBLEM  STATEMENT</vt:lpstr>
      <vt:lpstr>Project Description  </vt:lpstr>
      <vt:lpstr>WHO ARE THE END USERS?</vt:lpstr>
      <vt:lpstr>Technology Used</vt:lpstr>
      <vt:lpstr>RESULTS </vt:lpstr>
      <vt:lpstr>RESULTS </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Admin</cp:lastModifiedBy>
  <cp:revision>104</cp:revision>
  <dcterms:created xsi:type="dcterms:W3CDTF">2021-07-11T13:13:15Z</dcterms:created>
  <dcterms:modified xsi:type="dcterms:W3CDTF">2026-09-05T13:57:55Z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